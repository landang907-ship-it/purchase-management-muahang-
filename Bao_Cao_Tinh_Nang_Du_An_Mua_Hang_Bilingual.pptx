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65" r:id="rId4"/>
    <p:sldId id="266" r:id="rId5"/>
    <p:sldId id="267" r:id="rId6"/>
    <p:sldId id="268" r:id="rId7"/>
    <p:sldId id="257" r:id="rId8"/>
    <p:sldId id="259" r:id="rId9"/>
    <p:sldId id="261" r:id="rId10"/>
    <p:sldId id="262" r:id="rId11"/>
    <p:sldId id="263" r:id="rId12"/>
    <p:sldId id="264" r:id="rId13"/>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1"/>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10362895" cy="4663440"/>
          </a:xfrm>
          <a:prstGeom prst="roundRect">
            <a:avLst/>
          </a:prstGeom>
          <a:solidFill>
            <a:srgbClr val="1E293B"/>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371600"/>
            <a:ext cx="9601200" cy="4114800"/>
          </a:xfrm>
          <a:prstGeom prst="rect">
            <a:avLst/>
          </a:prstGeom>
          <a:noFill/>
        </p:spPr>
        <p:txBody>
          <a:bodyPr wrap="square">
            <a:spAutoFit/>
          </a:bodyPr>
          <a:lstStyle/>
          <a:p>
            <a:pPr>
              <a:spcAft>
                <a:spcPts val="1000"/>
              </a:spcAft>
              <a:defRPr sz="1400" b="1">
                <a:solidFill>
                  <a:srgbClr val="2563EB"/>
                </a:solidFill>
              </a:defRPr>
            </a:pPr>
            <a:r>
              <a:t>BÁO CÁO TÍNH NĂNG DỰ ÁN • 项目功能报告 (越中双语版)</a:t>
            </a:r>
          </a:p>
          <a:p>
            <a:pPr>
              <a:defRPr sz="3000" b="1">
                <a:solidFill>
                  <a:srgbClr val="F8FAFC"/>
                </a:solidFill>
              </a:defRPr>
            </a:pPr>
            <a:r>
              <a:t>HỆ THỐNG QUẢN LÝ MUA HÀNG</a:t>
            </a:r>
          </a:p>
          <a:p>
            <a:pPr>
              <a:spcAft>
                <a:spcPts val="1500"/>
              </a:spcAft>
              <a:defRPr sz="2000" b="1">
                <a:solidFill>
                  <a:srgbClr val="93C5FD"/>
                </a:solidFill>
              </a:defRPr>
            </a:pPr>
            <a:r>
              <a:t>采购管理系统 (Purchase Management System)</a:t>
            </a:r>
          </a:p>
          <a:p>
            <a:pPr>
              <a:defRPr sz="1400">
                <a:solidFill>
                  <a:srgbClr val="E2E8F0"/>
                </a:solidFill>
              </a:defRPr>
            </a:pPr>
            <a:r>
              <a:t>Giải pháp số hóa quy trình mua sắm vật tư doanh nghiệp &amp; nhà máy sản xuất</a:t>
            </a:r>
          </a:p>
          <a:p>
            <a:pPr>
              <a:spcAft>
                <a:spcPts val="2500"/>
              </a:spcAft>
              <a:defRPr sz="1300">
                <a:solidFill>
                  <a:srgbClr val="94A3B8"/>
                </a:solidFill>
              </a:defRPr>
            </a:pPr>
            <a:r>
              <a:t>企业与生产工厂物料采购全流程数字化解决方案</a:t>
            </a:r>
          </a:p>
          <a:p>
            <a:pPr>
              <a:defRPr sz="1100">
                <a:solidFill>
                  <a:srgbClr val="CBD5E1"/>
                </a:solidFill>
              </a:defRPr>
            </a:pPr>
            <a:r>
              <a:t>📅 Cập nhật / 更新: 07/2026  |  🌐 Ngôn ngữ / 语言: Việt - Trung (越中)  |  💻 React 19 + Vite 6 + Supabase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46075" y="238760"/>
            <a:ext cx="9281795" cy="368300"/>
          </a:xfrm>
          <a:prstGeom prst="rect">
            <a:avLst/>
          </a:prstGeom>
          <a:noFill/>
        </p:spPr>
        <p:txBody>
          <a:bodyPr wrap="square" rtlCol="0">
            <a:spAutoFit/>
          </a:bodyPr>
          <a:p>
            <a:r>
              <a:rPr lang="en-US" altLang="en-GB"/>
              <a:t>I. Tính năng đơn mua hàng hệ thống :</a:t>
            </a:r>
            <a:endParaRPr lang="en-US" altLang="en-GB"/>
          </a:p>
        </p:txBody>
      </p:sp>
      <p:sp>
        <p:nvSpPr>
          <p:cNvPr id="5" name="Text Box 4"/>
          <p:cNvSpPr txBox="1"/>
          <p:nvPr/>
        </p:nvSpPr>
        <p:spPr>
          <a:xfrm>
            <a:off x="346075" y="861060"/>
            <a:ext cx="10126980" cy="922020"/>
          </a:xfrm>
          <a:prstGeom prst="rect">
            <a:avLst/>
          </a:prstGeom>
          <a:noFill/>
        </p:spPr>
        <p:txBody>
          <a:bodyPr wrap="square" rtlCol="0">
            <a:spAutoFit/>
          </a:bodyPr>
          <a:p>
            <a:r>
              <a:rPr lang="en-US" altLang="en-GB"/>
              <a:t>Lý do cần cải thiện : Vì lý do quá nhiều thiết bị và đơn đặt hàng cần kiểm soát, việc xem xét tiến độ của mỗi đơn đối với nhân viên kế hoạch thiết bị bị quá tải, dẫn đến thiếu soát ảnh hưởng đến sãn xuất do thiếu hụt linh kiện thay thế và dự phòng</a:t>
            </a:r>
            <a:endParaRPr lang="en-US" altLang="en-GB"/>
          </a:p>
        </p:txBody>
      </p:sp>
      <p:sp>
        <p:nvSpPr>
          <p:cNvPr id="6" name="Text Box 5"/>
          <p:cNvSpPr txBox="1"/>
          <p:nvPr/>
        </p:nvSpPr>
        <p:spPr>
          <a:xfrm>
            <a:off x="346075" y="2037080"/>
            <a:ext cx="9410065" cy="922020"/>
          </a:xfrm>
          <a:prstGeom prst="rect">
            <a:avLst/>
          </a:prstGeom>
          <a:noFill/>
        </p:spPr>
        <p:txBody>
          <a:bodyPr wrap="square" rtlCol="0">
            <a:spAutoFit/>
          </a:bodyPr>
          <a:p>
            <a:r>
              <a:rPr lang="en-US" altLang="en-GB"/>
              <a:t>Hướng cải thiện : Tạo ra ứng dụng cho phép mỗi nhân viên khi đặt mua hàng cho nhân viên kế hoạch thiết bị có thể theo dõi tiến độ giữa những đơn hàng ( Đang chờ phê duyệt - Đã phê duyệt - Bị từ chối )</a:t>
            </a:r>
            <a:endParaRPr lang="en-US" altLang="en-GB"/>
          </a:p>
        </p:txBody>
      </p:sp>
      <p:sp>
        <p:nvSpPr>
          <p:cNvPr id="7" name="Text Box 6"/>
          <p:cNvSpPr txBox="1"/>
          <p:nvPr/>
        </p:nvSpPr>
        <p:spPr>
          <a:xfrm>
            <a:off x="424815" y="3061970"/>
            <a:ext cx="6363970" cy="368300"/>
          </a:xfrm>
          <a:prstGeom prst="rect">
            <a:avLst/>
          </a:prstGeom>
          <a:noFill/>
        </p:spPr>
        <p:txBody>
          <a:bodyPr wrap="square" rtlCol="0">
            <a:spAutoFit/>
          </a:bodyPr>
          <a:p>
            <a:r>
              <a:rPr lang="en-US" altLang="en-GB"/>
              <a:t>Sử dụng song song giữa hai ngôn ngữ tiếng trung và tiếng việt</a:t>
            </a:r>
            <a:endParaRPr lang="en-US" altLang="en-GB"/>
          </a:p>
        </p:txBody>
      </p:sp>
      <p:pic>
        <p:nvPicPr>
          <p:cNvPr id="8" name="Picture 7"/>
          <p:cNvPicPr>
            <a:picLocks noChangeAspect="1"/>
          </p:cNvPicPr>
          <p:nvPr/>
        </p:nvPicPr>
        <p:blipFill>
          <a:blip r:embed="rId1"/>
          <a:stretch>
            <a:fillRect/>
          </a:stretch>
        </p:blipFill>
        <p:spPr>
          <a:xfrm>
            <a:off x="424815" y="3678555"/>
            <a:ext cx="4571365" cy="2709545"/>
          </a:xfrm>
          <a:prstGeom prst="rect">
            <a:avLst/>
          </a:prstGeom>
        </p:spPr>
      </p:pic>
      <p:pic>
        <p:nvPicPr>
          <p:cNvPr id="9" name="Picture 8"/>
          <p:cNvPicPr>
            <a:picLocks noChangeAspect="1"/>
          </p:cNvPicPr>
          <p:nvPr/>
        </p:nvPicPr>
        <p:blipFill>
          <a:blip r:embed="rId2"/>
          <a:stretch>
            <a:fillRect/>
          </a:stretch>
        </p:blipFill>
        <p:spPr>
          <a:xfrm>
            <a:off x="5426075" y="3789680"/>
            <a:ext cx="4520565" cy="25984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140970" y="128270"/>
            <a:ext cx="11592560" cy="2861310"/>
          </a:xfrm>
          <a:prstGeom prst="rect">
            <a:avLst/>
          </a:prstGeom>
          <a:noFill/>
        </p:spPr>
        <p:txBody>
          <a:bodyPr wrap="square" rtlCol="0">
            <a:spAutoFit/>
          </a:bodyPr>
          <a:p>
            <a:r>
              <a:rPr lang="en-US" altLang="en-GB"/>
              <a:t>Bao gồm những tính năng :</a:t>
            </a:r>
            <a:endParaRPr lang="en-US" altLang="en-GB"/>
          </a:p>
          <a:p>
            <a:pPr indent="457200"/>
            <a:r>
              <a:rPr lang="en-US" altLang="en-GB"/>
              <a:t>1. Phân loại người yêu cầu theo phân xưởng</a:t>
            </a:r>
            <a:endParaRPr lang="en-US" altLang="en-GB"/>
          </a:p>
          <a:p>
            <a:pPr indent="457200"/>
            <a:r>
              <a:rPr lang="en-US" altLang="en-GB"/>
              <a:t>2. Tự do tìm kiếm thông qua thanh công cụ tìm kiếm và 3 bộ lọc </a:t>
            </a:r>
            <a:endParaRPr lang="en-US" altLang="en-GB"/>
          </a:p>
          <a:p>
            <a:pPr marL="457200" lvl="1" indent="457200"/>
            <a:r>
              <a:rPr lang="en-US" altLang="en-GB"/>
              <a:t>Bộ lọc người yêu cầu</a:t>
            </a:r>
            <a:endParaRPr lang="en-US" altLang="en-GB"/>
          </a:p>
          <a:p>
            <a:pPr marL="457200" lvl="1" indent="457200"/>
            <a:r>
              <a:rPr lang="en-US" altLang="en-GB"/>
              <a:t>Bộ lọc Trạng Thái</a:t>
            </a:r>
            <a:endParaRPr lang="en-US" altLang="en-GB"/>
          </a:p>
          <a:p>
            <a:pPr marL="457200" lvl="1" indent="457200"/>
            <a:r>
              <a:rPr lang="en-US" altLang="en-GB"/>
              <a:t>Bộ lọc thời gian</a:t>
            </a:r>
            <a:endParaRPr lang="en-US" altLang="en-GB"/>
          </a:p>
          <a:p>
            <a:pPr indent="457200"/>
            <a:r>
              <a:rPr lang="en-US" altLang="en-GB"/>
              <a:t>3. Cho phép người dùng gán hình ảnh cụ thể vào vật tư cần dùng ( Cần phải được xét duyệt )</a:t>
            </a:r>
            <a:endParaRPr lang="en-US" altLang="en-GB"/>
          </a:p>
          <a:p>
            <a:pPr indent="457200"/>
            <a:r>
              <a:rPr lang="en-US" altLang="en-GB"/>
              <a:t>4. Có thể đánh dấu yêu cầu cần gấp và gửi thông báo đến tài khoản nhân viên kế hoạch thiết bị, yêu cầu cần gấp phải đầy đủ thông tin ( Hình ảnh vị trí hư hỏng, lý do khiến vật tư thành gấp )</a:t>
            </a:r>
            <a:endParaRPr lang="en-US" altLang="en-GB"/>
          </a:p>
          <a:p>
            <a:pPr marL="457200" lvl="1" indent="457200"/>
            <a:endParaRPr lang="en-US" altLang="en-GB"/>
          </a:p>
        </p:txBody>
      </p:sp>
      <p:pic>
        <p:nvPicPr>
          <p:cNvPr id="4" name="Picture 3"/>
          <p:cNvPicPr>
            <a:picLocks noChangeAspect="1"/>
          </p:cNvPicPr>
          <p:nvPr/>
        </p:nvPicPr>
        <p:blipFill>
          <a:blip r:embed="rId1"/>
          <a:stretch>
            <a:fillRect/>
          </a:stretch>
        </p:blipFill>
        <p:spPr>
          <a:xfrm>
            <a:off x="99695" y="3010535"/>
            <a:ext cx="5363845" cy="3194685"/>
          </a:xfrm>
          <a:prstGeom prst="rect">
            <a:avLst/>
          </a:prstGeom>
        </p:spPr>
      </p:pic>
      <p:pic>
        <p:nvPicPr>
          <p:cNvPr id="5" name="Picture 4"/>
          <p:cNvPicPr>
            <a:picLocks noChangeAspect="1"/>
          </p:cNvPicPr>
          <p:nvPr/>
        </p:nvPicPr>
        <p:blipFill>
          <a:blip r:embed="rId2"/>
          <a:stretch>
            <a:fillRect/>
          </a:stretch>
        </p:blipFill>
        <p:spPr>
          <a:xfrm>
            <a:off x="5384800" y="3051810"/>
            <a:ext cx="6506845" cy="34486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26695" y="185420"/>
            <a:ext cx="5652770" cy="368300"/>
          </a:xfrm>
          <a:prstGeom prst="rect">
            <a:avLst/>
          </a:prstGeom>
          <a:noFill/>
        </p:spPr>
        <p:txBody>
          <a:bodyPr wrap="square" rtlCol="0">
            <a:spAutoFit/>
          </a:bodyPr>
          <a:p>
            <a:r>
              <a:rPr lang="en-US" altLang="en-GB"/>
              <a:t>II . Thông báo :</a:t>
            </a:r>
            <a:endParaRPr lang="en-US" altLang="en-GB"/>
          </a:p>
        </p:txBody>
      </p:sp>
      <p:pic>
        <p:nvPicPr>
          <p:cNvPr id="4" name="Picture 3"/>
          <p:cNvPicPr>
            <a:picLocks noChangeAspect="1"/>
          </p:cNvPicPr>
          <p:nvPr/>
        </p:nvPicPr>
        <p:blipFill>
          <a:blip r:embed="rId1"/>
          <a:stretch>
            <a:fillRect/>
          </a:stretch>
        </p:blipFill>
        <p:spPr>
          <a:xfrm>
            <a:off x="127000" y="2213610"/>
            <a:ext cx="9267825" cy="4381500"/>
          </a:xfrm>
          <a:prstGeom prst="rect">
            <a:avLst/>
          </a:prstGeom>
        </p:spPr>
      </p:pic>
      <p:sp>
        <p:nvSpPr>
          <p:cNvPr id="5" name="Text Box 4"/>
          <p:cNvSpPr txBox="1"/>
          <p:nvPr/>
        </p:nvSpPr>
        <p:spPr>
          <a:xfrm>
            <a:off x="255905" y="659130"/>
            <a:ext cx="9941560" cy="1476375"/>
          </a:xfrm>
          <a:prstGeom prst="rect">
            <a:avLst/>
          </a:prstGeom>
          <a:noFill/>
        </p:spPr>
        <p:txBody>
          <a:bodyPr wrap="square" rtlCol="0">
            <a:spAutoFit/>
          </a:bodyPr>
          <a:p>
            <a:r>
              <a:rPr lang="en-US" altLang="en-GB"/>
              <a:t>Tính năng khu vực thông báo :</a:t>
            </a:r>
            <a:endParaRPr lang="en-US" altLang="en-GB"/>
          </a:p>
          <a:p>
            <a:r>
              <a:rPr lang="en-US" altLang="en-GB"/>
              <a:t> 1. Nhân viên kế hoạch thiết bị có thể xác nhận vật tư cần gấp, đánh giá tình hình xét duyệt sau đó liên hệ trực tiếp với bộ phận mua hàng thông qua Yêu Cầu cần gấp</a:t>
            </a:r>
            <a:endParaRPr lang="en-US" altLang="en-GB"/>
          </a:p>
          <a:p>
            <a:r>
              <a:rPr lang="en-US" altLang="en-GB"/>
              <a:t>2.Nhân viên kỹ thuật,mua hàng ... có thể xem tiến độ trể đơn trên hệ thống thông qua mục thông báo trể </a:t>
            </a:r>
            <a:endParaRPr lang="en-US" altLang="en-GB"/>
          </a:p>
          <a:p>
            <a:r>
              <a:rPr lang="en-US" altLang="en-GB"/>
              <a:t>3. Xác nhận yêu cầu cập nhật hình ảnh vật tư ở much Xác nhận hình ảnh linh kiện</a:t>
            </a:r>
            <a:endParaRPr lang="en-US" alt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280670" y="3087370"/>
            <a:ext cx="10768330" cy="3428365"/>
          </a:xfrm>
          <a:prstGeom prst="rect">
            <a:avLst/>
          </a:prstGeom>
        </p:spPr>
      </p:pic>
      <p:sp>
        <p:nvSpPr>
          <p:cNvPr id="3" name="Text Box 2"/>
          <p:cNvSpPr txBox="1"/>
          <p:nvPr/>
        </p:nvSpPr>
        <p:spPr>
          <a:xfrm>
            <a:off x="341630" y="71120"/>
            <a:ext cx="7847965" cy="368300"/>
          </a:xfrm>
          <a:prstGeom prst="rect">
            <a:avLst/>
          </a:prstGeom>
          <a:noFill/>
        </p:spPr>
        <p:txBody>
          <a:bodyPr wrap="square" rtlCol="0">
            <a:spAutoFit/>
          </a:bodyPr>
          <a:p>
            <a:r>
              <a:rPr lang="en-US" altLang="en-GB"/>
              <a:t>III. Mã vật tư hệ thống</a:t>
            </a:r>
            <a:endParaRPr lang="en-US" altLang="en-GB"/>
          </a:p>
        </p:txBody>
      </p:sp>
      <p:sp>
        <p:nvSpPr>
          <p:cNvPr id="5" name="Text Box 4"/>
          <p:cNvSpPr txBox="1"/>
          <p:nvPr/>
        </p:nvSpPr>
        <p:spPr>
          <a:xfrm>
            <a:off x="313055" y="774065"/>
            <a:ext cx="9669780" cy="1198880"/>
          </a:xfrm>
          <a:prstGeom prst="rect">
            <a:avLst/>
          </a:prstGeom>
          <a:noFill/>
        </p:spPr>
        <p:txBody>
          <a:bodyPr wrap="square" rtlCol="0">
            <a:spAutoFit/>
          </a:bodyPr>
          <a:p>
            <a:r>
              <a:rPr lang="en-US" altLang="en-GB"/>
              <a:t>Lý do : Vì mã vật tư hiện tại của hệ thống quá nhiều, bị trùng lặp, sai 1 vài ký tự hay cách gọi tên</a:t>
            </a:r>
            <a:endParaRPr lang="en-US" altLang="en-GB"/>
          </a:p>
          <a:p>
            <a:r>
              <a:rPr lang="en-US" altLang="en-GB"/>
              <a:t>.Do đó cần làm rõ mã vật liệu đã sử dụng, độ tin cậy cao, từ đó tạo thói quen sử dụng chung 1 mã vật tư để mua hàng. Lợi ích : thuận tiện cho nhân viên thiết bị đặt hàng, nhân viên thu mua mua hàng và nhân viên kho kiểm kê và lưu kho</a:t>
            </a:r>
            <a:endParaRPr lang="en-US" altLang="en-GB"/>
          </a:p>
        </p:txBody>
      </p:sp>
      <p:sp>
        <p:nvSpPr>
          <p:cNvPr id="6" name="Text Box 5"/>
          <p:cNvSpPr txBox="1"/>
          <p:nvPr/>
        </p:nvSpPr>
        <p:spPr>
          <a:xfrm>
            <a:off x="413385" y="1936115"/>
            <a:ext cx="9354185" cy="922020"/>
          </a:xfrm>
          <a:prstGeom prst="rect">
            <a:avLst/>
          </a:prstGeom>
          <a:noFill/>
        </p:spPr>
        <p:txBody>
          <a:bodyPr wrap="square" rtlCol="0">
            <a:spAutoFit/>
          </a:bodyPr>
          <a:p>
            <a:r>
              <a:rPr lang="en-US" altLang="en-GB"/>
              <a:t>Hướng cải thiện : Dùng thuật toán với mỗi lần mua hàng, độ tin cậy của mã liệu sẽ được tăng lên và xếp ở đầu khi tìm kiếm kèm theo hình ảnh để nhận dạng tránh nhầm lẫn, mã liệu trùng lập 100% sẽ được loại bỏ tránh rác hệ thống</a:t>
            </a:r>
            <a:endParaRPr lang="en-US" alt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731520" y="320040"/>
            <a:ext cx="10698480" cy="320040"/>
          </a:xfrm>
          <a:prstGeom prst="rect">
            <a:avLst/>
          </a:prstGeom>
          <a:noFill/>
        </p:spPr>
        <p:txBody>
          <a:bodyPr wrap="square">
            <a:spAutoFit/>
          </a:bodyPr>
          <a:lstStyle/>
          <a:p>
            <a:pPr>
              <a:defRPr sz="1000" b="1">
                <a:solidFill>
                  <a:srgbClr val="2563EB"/>
                </a:solidFill>
              </a:defRPr>
            </a:pPr>
            <a:r>
              <a:t>DỰ ÁN QUẢN LÝ MUA HÀNG • 采购管理系统</a:t>
            </a:r>
          </a:p>
        </p:txBody>
      </p:sp>
      <p:sp>
        <p:nvSpPr>
          <p:cNvPr id="3" name="TextBox 2"/>
          <p:cNvSpPr txBox="1"/>
          <p:nvPr/>
        </p:nvSpPr>
        <p:spPr>
          <a:xfrm>
            <a:off x="731520" y="594360"/>
            <a:ext cx="10698480" cy="868680"/>
          </a:xfrm>
          <a:prstGeom prst="rect">
            <a:avLst/>
          </a:prstGeom>
          <a:noFill/>
        </p:spPr>
        <p:txBody>
          <a:bodyPr wrap="square">
            <a:spAutoFit/>
          </a:bodyPr>
          <a:lstStyle/>
          <a:p>
            <a:pPr>
              <a:spcAft>
                <a:spcPts val="200"/>
              </a:spcAft>
              <a:defRPr sz="2100" b="1">
                <a:solidFill>
                  <a:srgbClr val="1E293B"/>
                </a:solidFill>
              </a:defRPr>
            </a:pPr>
            <a:r>
              <a:t>TỔNG QUAN HỆ THỐNG &amp; MỤC TIÊU DỰ ÁN</a:t>
            </a:r>
          </a:p>
          <a:p>
            <a:pPr>
              <a:defRPr sz="1400" b="1">
                <a:solidFill>
                  <a:srgbClr val="2563EB"/>
                </a:solidFill>
              </a:defRPr>
            </a:pPr>
            <a:r>
              <a:t>系统概述与项目目标</a:t>
            </a:r>
          </a:p>
        </p:txBody>
      </p:sp>
      <p:sp>
        <p:nvSpPr>
          <p:cNvPr id="4" name="Rounded Rectangle 3"/>
          <p:cNvSpPr/>
          <p:nvPr/>
        </p:nvSpPr>
        <p:spPr>
          <a:xfrm>
            <a:off x="731520" y="1645920"/>
            <a:ext cx="3328416"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83080"/>
            <a:ext cx="3054096" cy="4206240"/>
          </a:xfrm>
          <a:prstGeom prst="rect">
            <a:avLst/>
          </a:prstGeom>
          <a:noFill/>
        </p:spPr>
        <p:txBody>
          <a:bodyPr wrap="square">
            <a:spAutoFit/>
          </a:bodyPr>
          <a:lstStyle/>
          <a:p>
            <a:pPr>
              <a:defRPr sz="1600" b="1">
                <a:solidFill>
                  <a:srgbClr val="2563EB"/>
                </a:solidFill>
              </a:defRPr>
            </a:pPr>
            <a:r>
              <a:t>🎯 Mục Tiêu Chính • 主要目标</a:t>
            </a:r>
          </a:p>
          <a:p>
            <a:pPr>
              <a:spcAft>
                <a:spcPts val="1000"/>
              </a:spcAft>
              <a:defRPr sz="1100">
                <a:solidFill>
                  <a:srgbClr val="64748B"/>
                </a:solidFill>
              </a:defRPr>
            </a:pPr>
            <a:r>
              <a:t>Số hóa quy trình mua sắm / 采购数字化</a:t>
            </a:r>
          </a:p>
          <a:p>
            <a:pPr>
              <a:defRPr sz="1100" b="1">
                <a:solidFill>
                  <a:srgbClr val="1E293B"/>
                </a:solidFill>
              </a:defRPr>
            </a:pPr>
            <a:r>
              <a:t>• Quản lý tập trung toàn bộ đề xuất đơn mua</a:t>
            </a:r>
          </a:p>
          <a:p>
            <a:pPr>
              <a:spcAft>
                <a:spcPts val="600"/>
              </a:spcAft>
              <a:defRPr sz="1000">
                <a:solidFill>
                  <a:srgbClr val="64748B"/>
                </a:solidFill>
              </a:defRPr>
            </a:pPr>
            <a:r>
              <a:t>  集中管理所有采购申请与订单</a:t>
            </a:r>
          </a:p>
          <a:p>
            <a:pPr>
              <a:defRPr sz="1100" b="1">
                <a:solidFill>
                  <a:srgbClr val="1E293B"/>
                </a:solidFill>
              </a:defRPr>
            </a:pPr>
            <a:r>
              <a:t>• Tối ưu thời gian duyệt giữa các phòng ban</a:t>
            </a:r>
          </a:p>
          <a:p>
            <a:pPr>
              <a:spcAft>
                <a:spcPts val="600"/>
              </a:spcAft>
              <a:defRPr sz="1000">
                <a:solidFill>
                  <a:srgbClr val="64748B"/>
                </a:solidFill>
              </a:defRPr>
            </a:pPr>
            <a:r>
              <a:t>  优化部门间审批处理时间</a:t>
            </a:r>
          </a:p>
          <a:p>
            <a:pPr>
              <a:defRPr sz="1100" b="1">
                <a:solidFill>
                  <a:srgbClr val="1E293B"/>
                </a:solidFill>
              </a:defRPr>
            </a:pPr>
            <a:r>
              <a:t>• Giảm thiểu sai sót và trùng lặp mã vật tư</a:t>
            </a:r>
          </a:p>
          <a:p>
            <a:pPr>
              <a:spcAft>
                <a:spcPts val="600"/>
              </a:spcAft>
              <a:defRPr sz="1000">
                <a:solidFill>
                  <a:srgbClr val="64748B"/>
                </a:solidFill>
              </a:defRPr>
            </a:pPr>
            <a:r>
              <a:t>  减少物料编码错误与重复</a:t>
            </a:r>
          </a:p>
          <a:p>
            <a:pPr>
              <a:defRPr sz="1100" b="1">
                <a:solidFill>
                  <a:srgbClr val="1E293B"/>
                </a:solidFill>
              </a:defRPr>
            </a:pPr>
            <a:r>
              <a:t>• Theo dõi thời gian thực tiến độ xử lý đơn</a:t>
            </a:r>
          </a:p>
          <a:p>
            <a:pPr>
              <a:spcAft>
                <a:spcPts val="600"/>
              </a:spcAft>
              <a:defRPr sz="1000">
                <a:solidFill>
                  <a:srgbClr val="64748B"/>
                </a:solidFill>
              </a:defRPr>
            </a:pPr>
            <a:r>
              <a:t>  实时跟踪订单处理进度</a:t>
            </a:r>
          </a:p>
        </p:txBody>
      </p:sp>
      <p:sp>
        <p:nvSpPr>
          <p:cNvPr id="6" name="Rounded Rectangle 5"/>
          <p:cNvSpPr/>
          <p:nvPr/>
        </p:nvSpPr>
        <p:spPr>
          <a:xfrm>
            <a:off x="4425696" y="1645920"/>
            <a:ext cx="3328416"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2856" y="1783080"/>
            <a:ext cx="3054096" cy="4206240"/>
          </a:xfrm>
          <a:prstGeom prst="rect">
            <a:avLst/>
          </a:prstGeom>
          <a:noFill/>
        </p:spPr>
        <p:txBody>
          <a:bodyPr wrap="square">
            <a:spAutoFit/>
          </a:bodyPr>
          <a:lstStyle/>
          <a:p>
            <a:pPr>
              <a:defRPr sz="1600" b="1">
                <a:solidFill>
                  <a:srgbClr val="2563EB"/>
                </a:solidFill>
              </a:defRPr>
            </a:pPr>
            <a:r>
              <a:t>🏭 Môi Trường Áp Dụng • 适用环境</a:t>
            </a:r>
          </a:p>
          <a:p>
            <a:pPr>
              <a:spcAft>
                <a:spcPts val="1000"/>
              </a:spcAft>
              <a:defRPr sz="1100">
                <a:solidFill>
                  <a:srgbClr val="64748B"/>
                </a:solidFill>
              </a:defRPr>
            </a:pPr>
            <a:r>
              <a:t>Đặc thù nhà máy / 工厂与企业特性</a:t>
            </a:r>
          </a:p>
          <a:p>
            <a:pPr>
              <a:defRPr sz="1100" b="1">
                <a:solidFill>
                  <a:srgbClr val="1E293B"/>
                </a:solidFill>
              </a:defRPr>
            </a:pPr>
            <a:r>
              <a:t>• Hỗ trợ Đa ngôn ngữ (Tiếng Việt &amp; Tiếng Trung)</a:t>
            </a:r>
          </a:p>
          <a:p>
            <a:pPr>
              <a:spcAft>
                <a:spcPts val="600"/>
              </a:spcAft>
              <a:defRPr sz="1000">
                <a:solidFill>
                  <a:srgbClr val="64748B"/>
                </a:solidFill>
              </a:defRPr>
            </a:pPr>
            <a:r>
              <a:t>  支持多语言（越南语与中文）</a:t>
            </a:r>
          </a:p>
          <a:p>
            <a:pPr>
              <a:defRPr sz="1100" b="1">
                <a:solidFill>
                  <a:srgbClr val="1E293B"/>
                </a:solidFill>
              </a:defRPr>
            </a:pPr>
            <a:r>
              <a:t>• Phù hợp doanh nghiệp sản xuất / liên doanh</a:t>
            </a:r>
          </a:p>
          <a:p>
            <a:pPr>
              <a:spcAft>
                <a:spcPts val="600"/>
              </a:spcAft>
              <a:defRPr sz="1000">
                <a:solidFill>
                  <a:srgbClr val="64748B"/>
                </a:solidFill>
              </a:defRPr>
            </a:pPr>
            <a:r>
              <a:t>  适用于生产型企业/合资企业</a:t>
            </a:r>
          </a:p>
          <a:p>
            <a:pPr>
              <a:defRPr sz="1100" b="1">
                <a:solidFill>
                  <a:srgbClr val="1E293B"/>
                </a:solidFill>
              </a:defRPr>
            </a:pPr>
            <a:r>
              <a:t>• Quản lý theo mô hình Phân xưởng / Bộ phận</a:t>
            </a:r>
          </a:p>
          <a:p>
            <a:pPr>
              <a:spcAft>
                <a:spcPts val="600"/>
              </a:spcAft>
              <a:defRPr sz="1000">
                <a:solidFill>
                  <a:srgbClr val="64748B"/>
                </a:solidFill>
              </a:defRPr>
            </a:pPr>
            <a:r>
              <a:t>  按车间/部门架构层级管理</a:t>
            </a:r>
          </a:p>
          <a:p>
            <a:pPr>
              <a:defRPr sz="1100" b="1">
                <a:solidFill>
                  <a:srgbClr val="1E293B"/>
                </a:solidFill>
              </a:defRPr>
            </a:pPr>
            <a:r>
              <a:t>• Phân quyền minh bạch Nhân viên &amp; Admin</a:t>
            </a:r>
          </a:p>
          <a:p>
            <a:pPr>
              <a:spcAft>
                <a:spcPts val="600"/>
              </a:spcAft>
              <a:defRPr sz="1000">
                <a:solidFill>
                  <a:srgbClr val="64748B"/>
                </a:solidFill>
              </a:defRPr>
            </a:pPr>
            <a:r>
              <a:t>  员工与管理员权限透明划分</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731520" y="320040"/>
            <a:ext cx="10698480" cy="320040"/>
          </a:xfrm>
          <a:prstGeom prst="rect">
            <a:avLst/>
          </a:prstGeom>
          <a:noFill/>
        </p:spPr>
        <p:txBody>
          <a:bodyPr wrap="square">
            <a:spAutoFit/>
          </a:bodyPr>
          <a:lstStyle/>
          <a:p>
            <a:pPr>
              <a:defRPr sz="1000" b="1">
                <a:solidFill>
                  <a:srgbClr val="2563EB"/>
                </a:solidFill>
              </a:defRPr>
            </a:pPr>
            <a:r>
              <a:t>DỰ ÁN QUẢN LÝ MUA HÀNG • 采购管理系统</a:t>
            </a:r>
          </a:p>
        </p:txBody>
      </p:sp>
      <p:sp>
        <p:nvSpPr>
          <p:cNvPr id="3" name="TextBox 2"/>
          <p:cNvSpPr txBox="1"/>
          <p:nvPr/>
        </p:nvSpPr>
        <p:spPr>
          <a:xfrm>
            <a:off x="731520" y="622935"/>
            <a:ext cx="10698480" cy="868680"/>
          </a:xfrm>
          <a:prstGeom prst="rect">
            <a:avLst/>
          </a:prstGeom>
          <a:noFill/>
        </p:spPr>
        <p:txBody>
          <a:bodyPr wrap="square">
            <a:spAutoFit/>
          </a:bodyPr>
          <a:lstStyle/>
          <a:p>
            <a:pPr>
              <a:spcAft>
                <a:spcPts val="200"/>
              </a:spcAft>
              <a:defRPr sz="2100" b="1">
                <a:solidFill>
                  <a:srgbClr val="1E293B"/>
                </a:solidFill>
              </a:defRPr>
            </a:pPr>
            <a:r>
              <a:t>TÍNH NĂNG 1: QUẢN LÝ ĐƠN MUA HÀNG HỆ THỐNG</a:t>
            </a:r>
          </a:p>
          <a:p>
            <a:pPr>
              <a:defRPr sz="1400" b="1">
                <a:solidFill>
                  <a:srgbClr val="2563EB"/>
                </a:solidFill>
              </a:defRPr>
            </a:pPr>
            <a:r>
              <a:t>功能 1: 系统采购订单管理</a:t>
            </a:r>
          </a:p>
        </p:txBody>
      </p:sp>
      <p:sp>
        <p:nvSpPr>
          <p:cNvPr id="6" name="Rounded Rectangle 5"/>
          <p:cNvSpPr/>
          <p:nvPr/>
        </p:nvSpPr>
        <p:spPr>
          <a:xfrm>
            <a:off x="1768475" y="1683385"/>
            <a:ext cx="8654415"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34590" y="1847850"/>
            <a:ext cx="8191500" cy="696595"/>
          </a:xfrm>
          <a:prstGeom prst="rect">
            <a:avLst/>
          </a:prstGeom>
          <a:noFill/>
        </p:spPr>
        <p:txBody>
          <a:bodyPr wrap="square">
            <a:spAutoFit/>
          </a:bodyPr>
          <a:lstStyle/>
          <a:p>
            <a:pPr>
              <a:spcAft>
                <a:spcPts val="400"/>
              </a:spcAft>
              <a:defRPr sz="1500" b="1">
                <a:solidFill>
                  <a:srgbClr val="2563EB"/>
                </a:solidFill>
              </a:defRPr>
            </a:pPr>
            <a:r>
              <a:t>🔍 Bộ Lọc Đa Tiêu Chí Thông Minh • 智能多标准筛选</a:t>
            </a:r>
          </a:p>
          <a:p>
            <a:pPr>
              <a:defRPr sz="1100">
                <a:solidFill>
                  <a:srgbClr val="1E293B"/>
                </a:solidFill>
              </a:defRPr>
            </a:pPr>
            <a:r>
              <a:t>Lọc theo Xưởng (Workshop), Người yêu cầu (Requester), Trạng thái đơn, Khoảng thời gian &amp; Tìm nhanh.</a:t>
            </a:r>
          </a:p>
          <a:p>
            <a:pPr>
              <a:defRPr sz="1000">
                <a:solidFill>
                  <a:srgbClr val="64748B"/>
                </a:solidFill>
              </a:defRPr>
            </a:pPr>
            <a:r>
              <a:t>按车间、申请人、订单状态、日期范围筛选及快速搜索。</a:t>
            </a:r>
          </a:p>
        </p:txBody>
      </p:sp>
      <p:sp>
        <p:nvSpPr>
          <p:cNvPr id="8" name="Rounded Rectangle 7"/>
          <p:cNvSpPr/>
          <p:nvPr/>
        </p:nvSpPr>
        <p:spPr>
          <a:xfrm>
            <a:off x="731520" y="3977639"/>
            <a:ext cx="512064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087367"/>
            <a:ext cx="4846320" cy="1883664"/>
          </a:xfrm>
          <a:prstGeom prst="rect">
            <a:avLst/>
          </a:prstGeom>
          <a:noFill/>
        </p:spPr>
        <p:txBody>
          <a:bodyPr wrap="square">
            <a:spAutoFit/>
          </a:bodyPr>
          <a:lstStyle/>
          <a:p>
            <a:pPr>
              <a:spcAft>
                <a:spcPts val="400"/>
              </a:spcAft>
              <a:defRPr sz="1500" b="1">
                <a:solidFill>
                  <a:srgbClr val="2563EB"/>
                </a:solidFill>
              </a:defRPr>
            </a:pPr>
            <a:r>
              <a:t>🔍 Xem &amp; Cập Nhật Chi Tiết Đơn • 查看与更新订单详情</a:t>
            </a:r>
          </a:p>
          <a:p>
            <a:pPr>
              <a:defRPr sz="1100">
                <a:solidFill>
                  <a:srgbClr val="1E293B"/>
                </a:solidFill>
              </a:defRPr>
            </a:pPr>
            <a:r>
              <a:t>PurchaseDetailModal hiển thị chi tiết số lượng, đơn vị, nhà cung cấp, quy cách &amp; lịch sử cập nhật.</a:t>
            </a:r>
          </a:p>
          <a:p>
            <a:pPr>
              <a:defRPr sz="1000">
                <a:solidFill>
                  <a:srgbClr val="64748B"/>
                </a:solidFill>
              </a:defRPr>
            </a:pPr>
            <a:r>
              <a:t>详情弹窗显示数量、单位、供应商、规格及变更历史。</a:t>
            </a:r>
          </a:p>
        </p:txBody>
      </p:sp>
      <p:sp>
        <p:nvSpPr>
          <p:cNvPr id="10" name="Rounded Rectangle 9"/>
          <p:cNvSpPr/>
          <p:nvPr/>
        </p:nvSpPr>
        <p:spPr>
          <a:xfrm>
            <a:off x="6217920" y="3977639"/>
            <a:ext cx="512064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4087367"/>
            <a:ext cx="4846320" cy="1883664"/>
          </a:xfrm>
          <a:prstGeom prst="rect">
            <a:avLst/>
          </a:prstGeom>
          <a:noFill/>
        </p:spPr>
        <p:txBody>
          <a:bodyPr wrap="square">
            <a:spAutoFit/>
          </a:bodyPr>
          <a:lstStyle/>
          <a:p>
            <a:pPr>
              <a:spcAft>
                <a:spcPts val="400"/>
              </a:spcAft>
              <a:defRPr sz="1500" b="1">
                <a:solidFill>
                  <a:srgbClr val="2563EB"/>
                </a:solidFill>
              </a:defRPr>
            </a:pPr>
            <a:r>
              <a:t>🔄 Chuyển Đổi Trạng Thái Đơn Hàng • 订单状态流转</a:t>
            </a:r>
          </a:p>
          <a:p>
            <a:pPr>
              <a:defRPr sz="1100">
                <a:solidFill>
                  <a:srgbClr val="1E293B"/>
                </a:solidFill>
              </a:defRPr>
            </a:pPr>
            <a:r>
              <a:t>Chờ duyệt (待审核 03) ➔ Đã duyệt (已批准 05) ➔ Từ chối (已拒绝 08) ➔ Đã tạo PO ➔ Hoàn thành.</a:t>
            </a:r>
          </a:p>
          <a:p>
            <a:pPr>
              <a:defRPr sz="1000">
                <a:solidFill>
                  <a:srgbClr val="64748B"/>
                </a:solidFill>
              </a:defRPr>
            </a:pPr>
            <a:r>
              <a:t>待审核 (03) ➔ 已批准 (05) ➔ 已拒绝 (08) ➔ 已生成PO ➔ 已完成。</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731520" y="320040"/>
            <a:ext cx="10698480" cy="320040"/>
          </a:xfrm>
          <a:prstGeom prst="rect">
            <a:avLst/>
          </a:prstGeom>
          <a:noFill/>
        </p:spPr>
        <p:txBody>
          <a:bodyPr wrap="square">
            <a:spAutoFit/>
          </a:bodyPr>
          <a:lstStyle/>
          <a:p>
            <a:pPr>
              <a:defRPr sz="1000" b="1">
                <a:solidFill>
                  <a:srgbClr val="2563EB"/>
                </a:solidFill>
              </a:defRPr>
            </a:pPr>
            <a:r>
              <a:t>DỰ ÁN QUẢN LÝ MUA HÀNG • 采购管理系统</a:t>
            </a:r>
          </a:p>
        </p:txBody>
      </p:sp>
      <p:sp>
        <p:nvSpPr>
          <p:cNvPr id="3" name="TextBox 2"/>
          <p:cNvSpPr txBox="1"/>
          <p:nvPr/>
        </p:nvSpPr>
        <p:spPr>
          <a:xfrm>
            <a:off x="731520" y="594360"/>
            <a:ext cx="10698480" cy="868680"/>
          </a:xfrm>
          <a:prstGeom prst="rect">
            <a:avLst/>
          </a:prstGeom>
          <a:noFill/>
        </p:spPr>
        <p:txBody>
          <a:bodyPr wrap="square">
            <a:spAutoFit/>
          </a:bodyPr>
          <a:lstStyle/>
          <a:p>
            <a:pPr>
              <a:spcAft>
                <a:spcPts val="200"/>
              </a:spcAft>
              <a:defRPr sz="2100" b="1">
                <a:solidFill>
                  <a:srgbClr val="1E293B"/>
                </a:solidFill>
              </a:defRPr>
            </a:pPr>
            <a:r>
              <a:t>TÍNH NĂNG 3: ĐƠN ĐÃ XỬ LÝ &amp; QUẢN LÝ MÃ VẬT TƯ</a:t>
            </a:r>
          </a:p>
          <a:p>
            <a:pPr>
              <a:defRPr sz="1400" b="1">
                <a:solidFill>
                  <a:srgbClr val="2563EB"/>
                </a:solidFill>
              </a:defRPr>
            </a:pPr>
            <a:r>
              <a:t>功能 3: 已处理订单与物料编码管理</a:t>
            </a:r>
          </a:p>
        </p:txBody>
      </p:sp>
      <p:sp>
        <p:nvSpPr>
          <p:cNvPr id="4" name="Rounded Rectangle 3"/>
          <p:cNvSpPr/>
          <p:nvPr/>
        </p:nvSpPr>
        <p:spPr>
          <a:xfrm>
            <a:off x="731520" y="1645920"/>
            <a:ext cx="5120640"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83080"/>
            <a:ext cx="4846320" cy="4206240"/>
          </a:xfrm>
          <a:prstGeom prst="rect">
            <a:avLst/>
          </a:prstGeom>
          <a:noFill/>
        </p:spPr>
        <p:txBody>
          <a:bodyPr wrap="square">
            <a:spAutoFit/>
          </a:bodyPr>
          <a:lstStyle/>
          <a:p>
            <a:pPr>
              <a:spcAft>
                <a:spcPts val="1000"/>
              </a:spcAft>
              <a:defRPr sz="1600" b="1">
                <a:solidFill>
                  <a:srgbClr val="2563EB"/>
                </a:solidFill>
              </a:defRPr>
            </a:pPr>
            <a:r>
              <a:t>📦 Đơn Đã Xử Lý (Processed Orders / 已处理订单)</a:t>
            </a:r>
          </a:p>
          <a:p>
            <a:pPr>
              <a:defRPr sz="1200" b="1">
                <a:solidFill>
                  <a:srgbClr val="1E293B"/>
                </a:solidFill>
              </a:defRPr>
            </a:pPr>
            <a:r>
              <a:t>🔹 Lưu trữ lịch sử đơn hàng:</a:t>
            </a:r>
          </a:p>
          <a:p>
            <a:pPr>
              <a:spcAft>
                <a:spcPts val="800"/>
              </a:spcAft>
              <a:defRPr sz="1050">
                <a:solidFill>
                  <a:srgbClr val="64748B"/>
                </a:solidFill>
              </a:defRPr>
            </a:pPr>
            <a:r>
              <a:t>   Lưu trữ các đơn đã nghiệm thu, giao hàng hoặc hoàn thành.</a:t>
            </a:r>
            <a:br/>
            <a:r>
              <a:t>归档已完成及已交付的订单历史。</a:t>
            </a:r>
          </a:p>
          <a:p>
            <a:pPr>
              <a:defRPr sz="1200" b="1">
                <a:solidFill>
                  <a:srgbClr val="1E293B"/>
                </a:solidFill>
              </a:defRPr>
            </a:pPr>
            <a:r>
              <a:t>🔹 Phục vụ đối soát kế toán:</a:t>
            </a:r>
          </a:p>
          <a:p>
            <a:pPr>
              <a:spcAft>
                <a:spcPts val="800"/>
              </a:spcAft>
              <a:defRPr sz="1050">
                <a:solidFill>
                  <a:srgbClr val="64748B"/>
                </a:solidFill>
              </a:defRPr>
            </a:pPr>
            <a:r>
              <a:t>   Dễ dàng tra cứu chứng từ, hóa đơn &amp; đối soát tài chính.</a:t>
            </a:r>
            <a:br/>
            <a:r>
              <a:t>便于财务与会计进行对账与单据查询。</a:t>
            </a:r>
          </a:p>
          <a:p>
            <a:pPr>
              <a:defRPr sz="1200" b="1">
                <a:solidFill>
                  <a:srgbClr val="1E293B"/>
                </a:solidFill>
              </a:defRPr>
            </a:pPr>
            <a:r>
              <a:t>🔹 Lọc &amp; Tìm kiếm đơn cũ:</a:t>
            </a:r>
          </a:p>
          <a:p>
            <a:pPr>
              <a:spcAft>
                <a:spcPts val="800"/>
              </a:spcAft>
              <a:defRPr sz="1050">
                <a:solidFill>
                  <a:srgbClr val="64748B"/>
                </a:solidFill>
              </a:defRPr>
            </a:pPr>
            <a:r>
              <a:t>   Tra cứu nhanh theo mã đơn hoặc khoảng ngày.</a:t>
            </a:r>
            <a:br/>
            <a:r>
              <a:t>按订单号或日期快速检索历史订单。</a:t>
            </a:r>
          </a:p>
        </p:txBody>
      </p:sp>
      <p:sp>
        <p:nvSpPr>
          <p:cNvPr id="6" name="Rounded Rectangle 5"/>
          <p:cNvSpPr/>
          <p:nvPr/>
        </p:nvSpPr>
        <p:spPr>
          <a:xfrm>
            <a:off x="6217920" y="1645920"/>
            <a:ext cx="5212080"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783080"/>
            <a:ext cx="4937760" cy="4206240"/>
          </a:xfrm>
          <a:prstGeom prst="rect">
            <a:avLst/>
          </a:prstGeom>
          <a:noFill/>
        </p:spPr>
        <p:txBody>
          <a:bodyPr wrap="square">
            <a:spAutoFit/>
          </a:bodyPr>
          <a:lstStyle/>
          <a:p>
            <a:pPr>
              <a:spcAft>
                <a:spcPts val="1000"/>
              </a:spcAft>
              <a:defRPr sz="1600" b="1">
                <a:solidFill>
                  <a:srgbClr val="2563EB"/>
                </a:solidFill>
              </a:defRPr>
            </a:pPr>
            <a:r>
              <a:t>🏷️ Mã Vật Tư (Material Codes / 物料编码)</a:t>
            </a:r>
          </a:p>
          <a:p>
            <a:pPr>
              <a:defRPr sz="1200" b="1">
                <a:solidFill>
                  <a:srgbClr val="1E293B"/>
                </a:solidFill>
              </a:defRPr>
            </a:pPr>
            <a:r>
              <a:t>🔹 Danh mục mã SAP &amp; Nội bộ:</a:t>
            </a:r>
          </a:p>
          <a:p>
            <a:pPr>
              <a:spcAft>
                <a:spcPts val="800"/>
              </a:spcAft>
              <a:defRPr sz="1050">
                <a:solidFill>
                  <a:srgbClr val="64748B"/>
                </a:solidFill>
              </a:defRPr>
            </a:pPr>
            <a:r>
              <a:t>   Đồng bộ và quản lý chuẩn hóa mã vật tư, linh kiện.</a:t>
            </a:r>
            <a:br/>
            <a:r>
              <a:t>同步与标准化管理 SAP 编码与内部编码。</a:t>
            </a:r>
          </a:p>
          <a:p>
            <a:pPr>
              <a:defRPr sz="1200" b="1">
                <a:solidFill>
                  <a:srgbClr val="1E293B"/>
                </a:solidFill>
              </a:defRPr>
            </a:pPr>
            <a:r>
              <a:t>🔹 Quy chuẩn thông số kỹ thuật:</a:t>
            </a:r>
          </a:p>
          <a:p>
            <a:pPr>
              <a:spcAft>
                <a:spcPts val="800"/>
              </a:spcAft>
              <a:defRPr sz="1050">
                <a:solidFill>
                  <a:srgbClr val="64748B"/>
                </a:solidFill>
              </a:defRPr>
            </a:pPr>
            <a:r>
              <a:t>   Lưu giữ tên gọi, thông số &amp; đơn vị tính chuẩn.</a:t>
            </a:r>
            <a:br/>
            <a:r>
              <a:t>规范物料名称、规格参数及标准单位。</a:t>
            </a:r>
          </a:p>
          <a:p>
            <a:pPr>
              <a:defRPr sz="1200" b="1">
                <a:solidFill>
                  <a:srgbClr val="1E293B"/>
                </a:solidFill>
              </a:defRPr>
            </a:pPr>
            <a:r>
              <a:t>🔹 Tránh trùng lặp mã vật tư:</a:t>
            </a:r>
          </a:p>
          <a:p>
            <a:pPr>
              <a:spcAft>
                <a:spcPts val="800"/>
              </a:spcAft>
              <a:defRPr sz="1050">
                <a:solidFill>
                  <a:srgbClr val="64748B"/>
                </a:solidFill>
              </a:defRPr>
            </a:pPr>
            <a:r>
              <a:t>   Giúp nhân viên chọn đúng mã vật tư khi tạo đơn.</a:t>
            </a:r>
            <a:br/>
            <a:r>
              <a:t>帮助员工在创建订单时准确选择编码。</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731520" y="320040"/>
            <a:ext cx="10698480" cy="320040"/>
          </a:xfrm>
          <a:prstGeom prst="rect">
            <a:avLst/>
          </a:prstGeom>
          <a:noFill/>
        </p:spPr>
        <p:txBody>
          <a:bodyPr wrap="square">
            <a:spAutoFit/>
          </a:bodyPr>
          <a:lstStyle/>
          <a:p>
            <a:pPr>
              <a:defRPr sz="1000" b="1">
                <a:solidFill>
                  <a:srgbClr val="2563EB"/>
                </a:solidFill>
              </a:defRPr>
            </a:pPr>
            <a:r>
              <a:t>DỰ ÁN QUẢN LÝ MUA HÀNG • 采购管理系统</a:t>
            </a:r>
          </a:p>
        </p:txBody>
      </p:sp>
      <p:sp>
        <p:nvSpPr>
          <p:cNvPr id="3" name="TextBox 2"/>
          <p:cNvSpPr txBox="1"/>
          <p:nvPr/>
        </p:nvSpPr>
        <p:spPr>
          <a:xfrm>
            <a:off x="731520" y="594360"/>
            <a:ext cx="10698480" cy="868680"/>
          </a:xfrm>
          <a:prstGeom prst="rect">
            <a:avLst/>
          </a:prstGeom>
          <a:noFill/>
        </p:spPr>
        <p:txBody>
          <a:bodyPr wrap="square">
            <a:spAutoFit/>
          </a:bodyPr>
          <a:lstStyle/>
          <a:p>
            <a:pPr>
              <a:spcAft>
                <a:spcPts val="200"/>
              </a:spcAft>
              <a:defRPr sz="2100" b="1">
                <a:solidFill>
                  <a:srgbClr val="1E293B"/>
                </a:solidFill>
              </a:defRPr>
            </a:pPr>
            <a:r>
              <a:t>TÍNH NĂNG 4: DỊCH VỤ EXCEL, MEDIA &amp; BẢO MẬT</a:t>
            </a:r>
          </a:p>
          <a:p>
            <a:pPr>
              <a:defRPr sz="1400" b="1">
                <a:solidFill>
                  <a:srgbClr val="2563EB"/>
                </a:solidFill>
              </a:defRPr>
            </a:pPr>
            <a:r>
              <a:t>功能 4: Excel 服务、媒体与权限安全</a:t>
            </a:r>
          </a:p>
        </p:txBody>
      </p:sp>
      <p:sp>
        <p:nvSpPr>
          <p:cNvPr id="4" name="Rounded Rectangle 3"/>
          <p:cNvSpPr/>
          <p:nvPr/>
        </p:nvSpPr>
        <p:spPr>
          <a:xfrm>
            <a:off x="731520" y="1645920"/>
            <a:ext cx="3328416"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83080"/>
            <a:ext cx="3054096" cy="4206240"/>
          </a:xfrm>
          <a:prstGeom prst="rect">
            <a:avLst/>
          </a:prstGeom>
          <a:noFill/>
        </p:spPr>
        <p:txBody>
          <a:bodyPr wrap="square">
            <a:spAutoFit/>
          </a:bodyPr>
          <a:lstStyle/>
          <a:p>
            <a:pPr>
              <a:spcAft>
                <a:spcPts val="200"/>
              </a:spcAft>
              <a:defRPr sz="1500" b="1">
                <a:solidFill>
                  <a:srgbClr val="2563EB"/>
                </a:solidFill>
              </a:defRPr>
            </a:pPr>
            <a:r>
              <a:t>📑 Xuất / Nhập Excel</a:t>
            </a:r>
            <a:br/>
            <a:r>
              <a:t>Excel 导入/导出</a:t>
            </a:r>
          </a:p>
          <a:p>
            <a:pPr>
              <a:spcAft>
                <a:spcPts val="1000"/>
              </a:spcAft>
              <a:defRPr sz="1050">
                <a:solidFill>
                  <a:srgbClr val="64748B"/>
                </a:solidFill>
              </a:defRPr>
            </a:pPr>
            <a:r>
              <a:t>Dịch vụ excel.ts</a:t>
            </a:r>
          </a:p>
          <a:p>
            <a:pPr>
              <a:defRPr sz="1100" b="1">
                <a:solidFill>
                  <a:srgbClr val="1E293B"/>
                </a:solidFill>
              </a:defRPr>
            </a:pPr>
            <a:r>
              <a:t>• Xuất báo cáo đơn mua ra (.xlsx)</a:t>
            </a:r>
          </a:p>
          <a:p>
            <a:pPr>
              <a:spcAft>
                <a:spcPts val="800"/>
              </a:spcAft>
              <a:defRPr sz="1000">
                <a:solidFill>
                  <a:srgbClr val="64748B"/>
                </a:solidFill>
              </a:defRPr>
            </a:pPr>
            <a:r>
              <a:t>  导出采购报告 (.xlsx)</a:t>
            </a:r>
          </a:p>
          <a:p>
            <a:pPr>
              <a:defRPr sz="1100" b="1">
                <a:solidFill>
                  <a:srgbClr val="1E293B"/>
                </a:solidFill>
              </a:defRPr>
            </a:pPr>
            <a:r>
              <a:t>• Nhập hàng loạt mã vật tư</a:t>
            </a:r>
          </a:p>
          <a:p>
            <a:pPr>
              <a:spcAft>
                <a:spcPts val="800"/>
              </a:spcAft>
              <a:defRPr sz="1000">
                <a:solidFill>
                  <a:srgbClr val="64748B"/>
                </a:solidFill>
              </a:defRPr>
            </a:pPr>
            <a:r>
              <a:t>  批量导入物料编码数据</a:t>
            </a:r>
          </a:p>
          <a:p>
            <a:pPr>
              <a:defRPr sz="1100" b="1">
                <a:solidFill>
                  <a:srgbClr val="1E293B"/>
                </a:solidFill>
              </a:defRPr>
            </a:pPr>
            <a:r>
              <a:t>• Tự động chuẩn hóa dữ liệu</a:t>
            </a:r>
          </a:p>
          <a:p>
            <a:pPr>
              <a:spcAft>
                <a:spcPts val="800"/>
              </a:spcAft>
              <a:defRPr sz="1000">
                <a:solidFill>
                  <a:srgbClr val="64748B"/>
                </a:solidFill>
              </a:defRPr>
            </a:pPr>
            <a:r>
              <a:t>  自动标准化数据格式</a:t>
            </a:r>
          </a:p>
        </p:txBody>
      </p:sp>
      <p:sp>
        <p:nvSpPr>
          <p:cNvPr id="6" name="Rounded Rectangle 5"/>
          <p:cNvSpPr/>
          <p:nvPr/>
        </p:nvSpPr>
        <p:spPr>
          <a:xfrm>
            <a:off x="4425696" y="1645920"/>
            <a:ext cx="3328416"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2856" y="1783080"/>
            <a:ext cx="3054096" cy="4206240"/>
          </a:xfrm>
          <a:prstGeom prst="rect">
            <a:avLst/>
          </a:prstGeom>
          <a:noFill/>
        </p:spPr>
        <p:txBody>
          <a:bodyPr wrap="square">
            <a:spAutoFit/>
          </a:bodyPr>
          <a:lstStyle/>
          <a:p>
            <a:pPr>
              <a:spcAft>
                <a:spcPts val="200"/>
              </a:spcAft>
              <a:defRPr sz="1500" b="1">
                <a:solidFill>
                  <a:srgbClr val="2563EB"/>
                </a:solidFill>
              </a:defRPr>
            </a:pPr>
            <a:r>
              <a:t>🖼️ Quản Lý Hình Ảnh</a:t>
            </a:r>
            <a:br/>
            <a:r>
              <a:t>图片管理服务</a:t>
            </a:r>
          </a:p>
          <a:p>
            <a:pPr>
              <a:spcAft>
                <a:spcPts val="1000"/>
              </a:spcAft>
              <a:defRPr sz="1050">
                <a:solidFill>
                  <a:srgbClr val="64748B"/>
                </a:solidFill>
              </a:defRPr>
            </a:pPr>
            <a:r>
              <a:t>Dịch vụ imageService.ts</a:t>
            </a:r>
          </a:p>
          <a:p>
            <a:pPr>
              <a:defRPr sz="1100" b="1">
                <a:solidFill>
                  <a:srgbClr val="1E293B"/>
                </a:solidFill>
              </a:defRPr>
            </a:pPr>
            <a:r>
              <a:t>• Upload ảnh vật tư lên Storage</a:t>
            </a:r>
          </a:p>
          <a:p>
            <a:pPr>
              <a:spcAft>
                <a:spcPts val="800"/>
              </a:spcAft>
              <a:defRPr sz="1000">
                <a:solidFill>
                  <a:srgbClr val="64748B"/>
                </a:solidFill>
              </a:defRPr>
            </a:pPr>
            <a:r>
              <a:t>  上传物料图片至 Storage</a:t>
            </a:r>
          </a:p>
          <a:p>
            <a:pPr>
              <a:defRPr sz="1100" b="1">
                <a:solidFill>
                  <a:srgbClr val="1E293B"/>
                </a:solidFill>
              </a:defRPr>
            </a:pPr>
            <a:r>
              <a:t>• Xem trực tiếp ảnh trong Modal</a:t>
            </a:r>
          </a:p>
          <a:p>
            <a:pPr>
              <a:spcAft>
                <a:spcPts val="800"/>
              </a:spcAft>
              <a:defRPr sz="1000">
                <a:solidFill>
                  <a:srgbClr val="64748B"/>
                </a:solidFill>
              </a:defRPr>
            </a:pPr>
            <a:r>
              <a:t>  详情弹窗直接预览图片</a:t>
            </a:r>
          </a:p>
          <a:p>
            <a:pPr>
              <a:defRPr sz="1100" b="1">
                <a:solidFill>
                  <a:srgbClr val="1E293B"/>
                </a:solidFill>
              </a:defRPr>
            </a:pPr>
            <a:r>
              <a:t>• Tối ưu dung lượng &amp; tốc độ</a:t>
            </a:r>
          </a:p>
          <a:p>
            <a:pPr>
              <a:spcAft>
                <a:spcPts val="800"/>
              </a:spcAft>
              <a:defRPr sz="1000">
                <a:solidFill>
                  <a:srgbClr val="64748B"/>
                </a:solidFill>
              </a:defRPr>
            </a:pPr>
            <a:r>
              <a:t>  优化图片体积与加载</a:t>
            </a:r>
          </a:p>
        </p:txBody>
      </p:sp>
      <p:sp>
        <p:nvSpPr>
          <p:cNvPr id="8" name="Rounded Rectangle 7"/>
          <p:cNvSpPr/>
          <p:nvPr/>
        </p:nvSpPr>
        <p:spPr>
          <a:xfrm>
            <a:off x="8119872" y="1645920"/>
            <a:ext cx="3328416"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57032" y="1783080"/>
            <a:ext cx="3054096" cy="4206240"/>
          </a:xfrm>
          <a:prstGeom prst="rect">
            <a:avLst/>
          </a:prstGeom>
          <a:noFill/>
        </p:spPr>
        <p:txBody>
          <a:bodyPr wrap="square">
            <a:spAutoFit/>
          </a:bodyPr>
          <a:lstStyle/>
          <a:p>
            <a:pPr>
              <a:spcAft>
                <a:spcPts val="200"/>
              </a:spcAft>
              <a:defRPr sz="1500" b="1">
                <a:solidFill>
                  <a:srgbClr val="2563EB"/>
                </a:solidFill>
              </a:defRPr>
            </a:pPr>
            <a:r>
              <a:t>🔒 Phân Quyền &amp; Bảo Mật</a:t>
            </a:r>
            <a:br/>
            <a:r>
              <a:t>权限与安全控制</a:t>
            </a:r>
          </a:p>
          <a:p>
            <a:pPr>
              <a:spcAft>
                <a:spcPts val="1000"/>
              </a:spcAft>
              <a:defRPr sz="1050">
                <a:solidFill>
                  <a:srgbClr val="64748B"/>
                </a:solidFill>
              </a:defRPr>
            </a:pPr>
            <a:r>
              <a:t>Supabase Auth &amp; RLS</a:t>
            </a:r>
          </a:p>
          <a:p>
            <a:pPr>
              <a:defRPr sz="1100" b="1">
                <a:solidFill>
                  <a:srgbClr val="1E293B"/>
                </a:solidFill>
              </a:defRPr>
            </a:pPr>
            <a:r>
              <a:t>• Phân quyền Role User &amp; Admin</a:t>
            </a:r>
          </a:p>
          <a:p>
            <a:pPr>
              <a:spcAft>
                <a:spcPts val="800"/>
              </a:spcAft>
              <a:defRPr sz="1000">
                <a:solidFill>
                  <a:srgbClr val="64748B"/>
                </a:solidFill>
              </a:defRPr>
            </a:pPr>
            <a:r>
              <a:t>  严格划分 User 与 Admin 权限</a:t>
            </a:r>
          </a:p>
          <a:p>
            <a:pPr>
              <a:defRPr sz="1100" b="1">
                <a:solidFill>
                  <a:srgbClr val="1E293B"/>
                </a:solidFill>
              </a:defRPr>
            </a:pPr>
            <a:r>
              <a:t>• Trang AdminUserManagement</a:t>
            </a:r>
          </a:p>
          <a:p>
            <a:pPr>
              <a:spcAft>
                <a:spcPts val="800"/>
              </a:spcAft>
              <a:defRPr sz="1000">
                <a:solidFill>
                  <a:srgbClr val="64748B"/>
                </a:solidFill>
              </a:defRPr>
            </a:pPr>
            <a:r>
              <a:t>  管理员用户管理页面</a:t>
            </a:r>
          </a:p>
          <a:p>
            <a:pPr>
              <a:defRPr sz="1100" b="1">
                <a:solidFill>
                  <a:srgbClr val="1E293B"/>
                </a:solidFill>
              </a:defRPr>
            </a:pPr>
            <a:r>
              <a:t>• Bảo mật Row Level Security</a:t>
            </a:r>
          </a:p>
          <a:p>
            <a:pPr>
              <a:spcAft>
                <a:spcPts val="800"/>
              </a:spcAft>
              <a:defRPr sz="1000">
                <a:solidFill>
                  <a:srgbClr val="64748B"/>
                </a:solidFill>
              </a:defRPr>
            </a:pPr>
            <a:r>
              <a:t>  PostgreSQL 行级安全策略</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731520" y="320040"/>
            <a:ext cx="10698480" cy="320040"/>
          </a:xfrm>
          <a:prstGeom prst="rect">
            <a:avLst/>
          </a:prstGeom>
          <a:noFill/>
        </p:spPr>
        <p:txBody>
          <a:bodyPr wrap="square">
            <a:spAutoFit/>
          </a:bodyPr>
          <a:lstStyle/>
          <a:p>
            <a:pPr>
              <a:defRPr sz="1000" b="1">
                <a:solidFill>
                  <a:srgbClr val="2563EB"/>
                </a:solidFill>
              </a:defRPr>
            </a:pPr>
            <a:r>
              <a:t>DỰ ÁN QUẢN LÝ MUA HÀNG • 采购管理系统</a:t>
            </a:r>
          </a:p>
        </p:txBody>
      </p:sp>
      <p:sp>
        <p:nvSpPr>
          <p:cNvPr id="3" name="TextBox 2"/>
          <p:cNvSpPr txBox="1"/>
          <p:nvPr/>
        </p:nvSpPr>
        <p:spPr>
          <a:xfrm>
            <a:off x="731520" y="594360"/>
            <a:ext cx="10698480" cy="868680"/>
          </a:xfrm>
          <a:prstGeom prst="rect">
            <a:avLst/>
          </a:prstGeom>
          <a:noFill/>
        </p:spPr>
        <p:txBody>
          <a:bodyPr wrap="square">
            <a:spAutoFit/>
          </a:bodyPr>
          <a:lstStyle/>
          <a:p>
            <a:pPr>
              <a:spcAft>
                <a:spcPts val="200"/>
              </a:spcAft>
              <a:defRPr sz="2100" b="1">
                <a:solidFill>
                  <a:srgbClr val="1E293B"/>
                </a:solidFill>
              </a:defRPr>
            </a:pPr>
            <a:r>
              <a:t>CHỨNG CHỈ BẢO MẬT &amp; TUÂN THỦ CƠ SỞ DỮ LIỆU (SUPABASE / POSTGRESQL)</a:t>
            </a:r>
          </a:p>
          <a:p>
            <a:pPr>
              <a:defRPr sz="1400" b="1">
                <a:solidFill>
                  <a:srgbClr val="2563EB"/>
                </a:solidFill>
              </a:defRPr>
            </a:pPr>
            <a:r>
              <a:t>数据库安全与合规认证 (SOC 2, ISO 27001, HIPAA, GDPR)</a:t>
            </a:r>
          </a:p>
        </p:txBody>
      </p:sp>
      <p:sp>
        <p:nvSpPr>
          <p:cNvPr id="4" name="Rounded Rectangle 3"/>
          <p:cNvSpPr/>
          <p:nvPr/>
        </p:nvSpPr>
        <p:spPr>
          <a:xfrm>
            <a:off x="731520" y="1645920"/>
            <a:ext cx="3328416" cy="21031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737360"/>
            <a:ext cx="3108960" cy="1920240"/>
          </a:xfrm>
          <a:prstGeom prst="rect">
            <a:avLst/>
          </a:prstGeom>
          <a:noFill/>
        </p:spPr>
        <p:txBody>
          <a:bodyPr wrap="square">
            <a:spAutoFit/>
          </a:bodyPr>
          <a:lstStyle/>
          <a:p>
            <a:pPr>
              <a:spcAft>
                <a:spcPts val="200"/>
              </a:spcAft>
              <a:defRPr sz="1000" b="1">
                <a:solidFill>
                  <a:srgbClr val="2563EB"/>
                </a:solidFill>
              </a:defRPr>
            </a:pPr>
            <a:r>
              <a:t>🛡️ SOC 2 TYPE II CERTIFIED</a:t>
            </a:r>
          </a:p>
          <a:p>
            <a:pPr>
              <a:spcAft>
                <a:spcPts val="400"/>
              </a:spcAft>
              <a:defRPr sz="1200" b="1">
                <a:solidFill>
                  <a:srgbClr val="1E293B"/>
                </a:solidFill>
              </a:defRPr>
            </a:pPr>
            <a:r>
              <a:t>Chứng Nhận SOC 2 Type II • SOC 2 Type II 审计认证</a:t>
            </a:r>
          </a:p>
          <a:p>
            <a:pPr>
              <a:defRPr sz="1000">
                <a:solidFill>
                  <a:srgbClr val="1E293B"/>
                </a:solidFill>
              </a:defRPr>
            </a:pPr>
            <a:r>
              <a:t>Đạt kiểm toán an ninh độc lập hàng năm về Bảo mật, Tính sẵn sàng và Bảo mật thông tin.</a:t>
            </a:r>
          </a:p>
          <a:p>
            <a:pPr>
              <a:defRPr sz="950">
                <a:solidFill>
                  <a:srgbClr val="64748B"/>
                </a:solidFill>
              </a:defRPr>
            </a:pPr>
            <a:r>
              <a:t>通过年度独立安全审计，涵盖安全性、可用性与机密性。</a:t>
            </a:r>
          </a:p>
        </p:txBody>
      </p:sp>
      <p:sp>
        <p:nvSpPr>
          <p:cNvPr id="6" name="Rounded Rectangle 5"/>
          <p:cNvSpPr/>
          <p:nvPr/>
        </p:nvSpPr>
        <p:spPr>
          <a:xfrm>
            <a:off x="4425696" y="1645920"/>
            <a:ext cx="3328416" cy="21031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35424" y="1737360"/>
            <a:ext cx="3108960" cy="1920240"/>
          </a:xfrm>
          <a:prstGeom prst="rect">
            <a:avLst/>
          </a:prstGeom>
          <a:noFill/>
        </p:spPr>
        <p:txBody>
          <a:bodyPr wrap="square">
            <a:spAutoFit/>
          </a:bodyPr>
          <a:lstStyle/>
          <a:p>
            <a:pPr>
              <a:spcAft>
                <a:spcPts val="200"/>
              </a:spcAft>
              <a:defRPr sz="1000" b="1">
                <a:solidFill>
                  <a:srgbClr val="2563EB"/>
                </a:solidFill>
              </a:defRPr>
            </a:pPr>
            <a:r>
              <a:t>🔒 ISO 27001 CERTIFIED</a:t>
            </a:r>
          </a:p>
          <a:p>
            <a:pPr>
              <a:spcAft>
                <a:spcPts val="400"/>
              </a:spcAft>
              <a:defRPr sz="1200" b="1">
                <a:solidFill>
                  <a:srgbClr val="1E293B"/>
                </a:solidFill>
              </a:defRPr>
            </a:pPr>
            <a:r>
              <a:t>Tiêu Chuẩn ISO 27001 • ISO 27001 国际认证</a:t>
            </a:r>
          </a:p>
          <a:p>
            <a:pPr>
              <a:defRPr sz="1000">
                <a:solidFill>
                  <a:srgbClr val="1E293B"/>
                </a:solidFill>
              </a:defRPr>
            </a:pPr>
            <a:r>
              <a:t>Chứng nhận quốc tế về Hệ thống quản lý an toàn thông tin (ISMS) cấp độ doanh nghiệp.</a:t>
            </a:r>
          </a:p>
          <a:p>
            <a:pPr>
              <a:defRPr sz="950">
                <a:solidFill>
                  <a:srgbClr val="64748B"/>
                </a:solidFill>
              </a:defRPr>
            </a:pPr>
            <a:r>
              <a:t>企业级信息安全管理体系 (ISMS) 国际标准认证。</a:t>
            </a:r>
          </a:p>
        </p:txBody>
      </p:sp>
      <p:sp>
        <p:nvSpPr>
          <p:cNvPr id="8" name="Rounded Rectangle 7"/>
          <p:cNvSpPr/>
          <p:nvPr/>
        </p:nvSpPr>
        <p:spPr>
          <a:xfrm>
            <a:off x="8119872" y="1645920"/>
            <a:ext cx="3328416" cy="21031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737360"/>
            <a:ext cx="3108960" cy="1920240"/>
          </a:xfrm>
          <a:prstGeom prst="rect">
            <a:avLst/>
          </a:prstGeom>
          <a:noFill/>
        </p:spPr>
        <p:txBody>
          <a:bodyPr wrap="square">
            <a:spAutoFit/>
          </a:bodyPr>
          <a:lstStyle/>
          <a:p>
            <a:pPr>
              <a:spcAft>
                <a:spcPts val="200"/>
              </a:spcAft>
              <a:defRPr sz="1000" b="1">
                <a:solidFill>
                  <a:srgbClr val="2563EB"/>
                </a:solidFill>
              </a:defRPr>
            </a:pPr>
            <a:r>
              <a:t>⚕️ HIPAA COMPLIANT</a:t>
            </a:r>
          </a:p>
          <a:p>
            <a:pPr>
              <a:spcAft>
                <a:spcPts val="400"/>
              </a:spcAft>
              <a:defRPr sz="1200" b="1">
                <a:solidFill>
                  <a:srgbClr val="1E293B"/>
                </a:solidFill>
              </a:defRPr>
            </a:pPr>
            <a:r>
              <a:t>Tuân Thủ HIPAA • HIPAA 合规认证</a:t>
            </a:r>
          </a:p>
          <a:p>
            <a:pPr>
              <a:defRPr sz="1000">
                <a:solidFill>
                  <a:srgbClr val="1E293B"/>
                </a:solidFill>
              </a:defRPr>
            </a:pPr>
            <a:r>
              <a:t>Đáp ứng đầy đủ quy chuẩn bảo mật dữ liệu y tế &amp; doanh nghiệp khắt khe (BAA Ready).</a:t>
            </a:r>
          </a:p>
          <a:p>
            <a:pPr>
              <a:defRPr sz="950">
                <a:solidFill>
                  <a:srgbClr val="64748B"/>
                </a:solidFill>
              </a:defRPr>
            </a:pPr>
            <a:r>
              <a:t>满足严格的高标准医疗与企业数据安全规范。</a:t>
            </a:r>
          </a:p>
        </p:txBody>
      </p:sp>
      <p:sp>
        <p:nvSpPr>
          <p:cNvPr id="10" name="Rounded Rectangle 9"/>
          <p:cNvSpPr/>
          <p:nvPr/>
        </p:nvSpPr>
        <p:spPr>
          <a:xfrm>
            <a:off x="731520" y="3977639"/>
            <a:ext cx="3328416" cy="21031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069079"/>
            <a:ext cx="3108960" cy="1920240"/>
          </a:xfrm>
          <a:prstGeom prst="rect">
            <a:avLst/>
          </a:prstGeom>
          <a:noFill/>
        </p:spPr>
        <p:txBody>
          <a:bodyPr wrap="square">
            <a:spAutoFit/>
          </a:bodyPr>
          <a:lstStyle/>
          <a:p>
            <a:pPr>
              <a:spcAft>
                <a:spcPts val="200"/>
              </a:spcAft>
              <a:defRPr sz="1000" b="1">
                <a:solidFill>
                  <a:srgbClr val="2563EB"/>
                </a:solidFill>
              </a:defRPr>
            </a:pPr>
            <a:r>
              <a:t>🇪🇺 GDPR COMPLIANT</a:t>
            </a:r>
          </a:p>
          <a:p>
            <a:pPr>
              <a:spcAft>
                <a:spcPts val="400"/>
              </a:spcAft>
              <a:defRPr sz="1200" b="1">
                <a:solidFill>
                  <a:srgbClr val="1E293B"/>
                </a:solidFill>
              </a:defRPr>
            </a:pPr>
            <a:r>
              <a:t>Tuân Thủ GDPR • GDPR 隐私合规</a:t>
            </a:r>
          </a:p>
          <a:p>
            <a:pPr>
              <a:defRPr sz="1000">
                <a:solidFill>
                  <a:srgbClr val="1E293B"/>
                </a:solidFill>
              </a:defRPr>
            </a:pPr>
            <a:r>
              <a:t>Bảo đảm quyền riêng tư dữ liệu cá nhân theo luật Châu Âu, hỗ trợ Data Residency tại Châu Á.</a:t>
            </a:r>
          </a:p>
          <a:p>
            <a:pPr>
              <a:defRPr sz="950">
                <a:solidFill>
                  <a:srgbClr val="64748B"/>
                </a:solidFill>
              </a:defRPr>
            </a:pPr>
            <a:r>
              <a:t>遵循欧洲数据隐私保护法规，支持亚洲数据驻留。</a:t>
            </a:r>
          </a:p>
        </p:txBody>
      </p:sp>
      <p:sp>
        <p:nvSpPr>
          <p:cNvPr id="12" name="Rounded Rectangle 11"/>
          <p:cNvSpPr/>
          <p:nvPr/>
        </p:nvSpPr>
        <p:spPr>
          <a:xfrm>
            <a:off x="4425696" y="3977639"/>
            <a:ext cx="3328416" cy="21031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4069079"/>
            <a:ext cx="3108960" cy="1920240"/>
          </a:xfrm>
          <a:prstGeom prst="rect">
            <a:avLst/>
          </a:prstGeom>
          <a:noFill/>
        </p:spPr>
        <p:txBody>
          <a:bodyPr wrap="square">
            <a:spAutoFit/>
          </a:bodyPr>
          <a:lstStyle/>
          <a:p>
            <a:pPr>
              <a:spcAft>
                <a:spcPts val="200"/>
              </a:spcAft>
              <a:defRPr sz="1000" b="1">
                <a:solidFill>
                  <a:srgbClr val="2563EB"/>
                </a:solidFill>
              </a:defRPr>
            </a:pPr>
            <a:r>
              <a:t>💳 PCI-DSS LEVEL 1</a:t>
            </a:r>
          </a:p>
          <a:p>
            <a:pPr>
              <a:spcAft>
                <a:spcPts val="400"/>
              </a:spcAft>
              <a:defRPr sz="1200" b="1">
                <a:solidFill>
                  <a:srgbClr val="1E293B"/>
                </a:solidFill>
              </a:defRPr>
            </a:pPr>
            <a:r>
              <a:t>Bảo Mật Thanh Toán • PCI-DSS 1级安全</a:t>
            </a:r>
          </a:p>
          <a:p>
            <a:pPr>
              <a:defRPr sz="1000">
                <a:solidFill>
                  <a:srgbClr val="1E293B"/>
                </a:solidFill>
              </a:defRPr>
            </a:pPr>
            <a:r>
              <a:t>Hạ tầng lưu trữ đạt tiêu chuẩn an toàn dữ liệu thanh toán thẻ PCI-DSS Cấp độ 1.</a:t>
            </a:r>
          </a:p>
          <a:p>
            <a:pPr>
              <a:defRPr sz="950">
                <a:solidFill>
                  <a:srgbClr val="64748B"/>
                </a:solidFill>
              </a:defRPr>
            </a:pPr>
            <a:r>
              <a:t>存储基础设施达到支付卡数据安全最高一级标准。</a:t>
            </a:r>
          </a:p>
        </p:txBody>
      </p:sp>
      <p:sp>
        <p:nvSpPr>
          <p:cNvPr id="14" name="Rounded Rectangle 13"/>
          <p:cNvSpPr/>
          <p:nvPr/>
        </p:nvSpPr>
        <p:spPr>
          <a:xfrm>
            <a:off x="8119872" y="3977639"/>
            <a:ext cx="3328416" cy="21031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4069079"/>
            <a:ext cx="3108960" cy="1920240"/>
          </a:xfrm>
          <a:prstGeom prst="rect">
            <a:avLst/>
          </a:prstGeom>
          <a:noFill/>
        </p:spPr>
        <p:txBody>
          <a:bodyPr wrap="square">
            <a:spAutoFit/>
          </a:bodyPr>
          <a:lstStyle/>
          <a:p>
            <a:pPr>
              <a:spcAft>
                <a:spcPts val="200"/>
              </a:spcAft>
              <a:defRPr sz="1000" b="1">
                <a:solidFill>
                  <a:srgbClr val="2563EB"/>
                </a:solidFill>
              </a:defRPr>
            </a:pPr>
            <a:r>
              <a:t>🔑 ENGINE SECURITY</a:t>
            </a:r>
          </a:p>
          <a:p>
            <a:pPr>
              <a:spcAft>
                <a:spcPts val="400"/>
              </a:spcAft>
              <a:defRPr sz="1200" b="1">
                <a:solidFill>
                  <a:srgbClr val="1E293B"/>
                </a:solidFill>
              </a:defRPr>
            </a:pPr>
            <a:r>
              <a:t>Mã Hóa &amp; RLS Engine • 引擎级加密与 RLS</a:t>
            </a:r>
          </a:p>
          <a:p>
            <a:pPr>
              <a:defRPr sz="1000">
                <a:solidFill>
                  <a:srgbClr val="1E293B"/>
                </a:solidFill>
              </a:defRPr>
            </a:pPr>
            <a:r>
              <a:t>Mã hóa AES-256 (At Rest), TLS 1.3 (In Transit), Row Level Security (RLS) trên Postgres.</a:t>
            </a:r>
          </a:p>
          <a:p>
            <a:pPr>
              <a:defRPr sz="950">
                <a:solidFill>
                  <a:srgbClr val="64748B"/>
                </a:solidFill>
              </a:defRPr>
            </a:pPr>
            <a:r>
              <a:t>AES-256 (静态加密), TLS 1.3 (传输加密) 及 Postgres RLS 行级安全。</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88720"/>
            <a:ext cx="10362895" cy="4754880"/>
          </a:xfrm>
          <a:prstGeom prst="rect">
            <a:avLst/>
          </a:prstGeom>
          <a:noFill/>
        </p:spPr>
        <p:txBody>
          <a:bodyPr wrap="square">
            <a:spAutoFit/>
          </a:bodyPr>
          <a:lstStyle/>
          <a:p>
            <a:pPr>
              <a:spcAft>
                <a:spcPts val="2000"/>
              </a:spcAft>
              <a:defRPr sz="2400" b="1">
                <a:solidFill>
                  <a:srgbClr val="2563EB"/>
                </a:solidFill>
              </a:defRPr>
            </a:pPr>
            <a:r>
              <a:t>TỔNG KẾT &amp; ĐỊNH HƯỚNG MỞ RỘNG • 总结与扩展方向</a:t>
            </a:r>
          </a:p>
          <a:p>
            <a:pPr>
              <a:defRPr sz="1400" b="1">
                <a:solidFill>
                  <a:srgbClr val="EFF6FF"/>
                </a:solidFill>
              </a:defRPr>
            </a:pPr>
            <a:r>
              <a:t>✨ Quy trình khép kín / 闭环流程</a:t>
            </a:r>
          </a:p>
          <a:p>
            <a:pPr>
              <a:spcAft>
                <a:spcPts val="1000"/>
              </a:spcAft>
              <a:defRPr sz="1100">
                <a:solidFill>
                  <a:srgbClr val="F8FAFC"/>
                </a:solidFill>
              </a:defRPr>
            </a:pPr>
            <a:r>
              <a:t>   Tối ưu từ đề xuất, duyệt đơn, tạo PO đến nghiệm thu nhập kho.</a:t>
            </a:r>
            <a:br/>
            <a:r>
              <a:t>从申请、审批、生成PO到验收入库全流程优化。</a:t>
            </a:r>
          </a:p>
          <a:p>
            <a:pPr>
              <a:defRPr sz="1400" b="1">
                <a:solidFill>
                  <a:srgbClr val="EFF6FF"/>
                </a:solidFill>
              </a:defRPr>
            </a:pPr>
            <a:r>
              <a:t>⚡ Hiệu năng vượt trội / 卓越性能</a:t>
            </a:r>
          </a:p>
          <a:p>
            <a:pPr>
              <a:spcAft>
                <a:spcPts val="1000"/>
              </a:spcAft>
              <a:defRPr sz="1100">
                <a:solidFill>
                  <a:srgbClr val="F8FAFC"/>
                </a:solidFill>
              </a:defRPr>
            </a:pPr>
            <a:r>
              <a:t>   React 19 + Vite 6 cho trải nghiệm người dùng tức thì.</a:t>
            </a:r>
            <a:br/>
            <a:r>
              <a:t>React 19 + Vite 6 带来即时响应体验。</a:t>
            </a:r>
          </a:p>
          <a:p>
            <a:pPr>
              <a:defRPr sz="1400" b="1">
                <a:solidFill>
                  <a:srgbClr val="EFF6FF"/>
                </a:solidFill>
              </a:defRPr>
            </a:pPr>
            <a:r>
              <a:t>🛡️ Bảo mật tiêu chuẩn / 国际标准安全</a:t>
            </a:r>
          </a:p>
          <a:p>
            <a:pPr>
              <a:spcAft>
                <a:spcPts val="1000"/>
              </a:spcAft>
              <a:defRPr sz="1100">
                <a:solidFill>
                  <a:srgbClr val="F8FAFC"/>
                </a:solidFill>
              </a:defRPr>
            </a:pPr>
            <a:r>
              <a:t>   Hạ tầng Supabase Postgres đạt chứng nhận SOC 2, ISO 27001, HIPAA &amp; GDPR.</a:t>
            </a:r>
            <a:br/>
            <a:r>
              <a:t>Supabase Postgres 基础设施通过 SOC 2, ISO 27001, HIPAA 和 GDPR 认证。</a:t>
            </a:r>
          </a:p>
          <a:p>
            <a:pPr>
              <a:defRPr sz="1400" b="1">
                <a:solidFill>
                  <a:srgbClr val="EFF6FF"/>
                </a:solidFill>
              </a:defRPr>
            </a:pPr>
            <a:r>
              <a:t>🌐 Song ngữ Việt - Trung / 越中双语</a:t>
            </a:r>
          </a:p>
          <a:p>
            <a:pPr>
              <a:spcAft>
                <a:spcPts val="1000"/>
              </a:spcAft>
              <a:defRPr sz="1100">
                <a:solidFill>
                  <a:srgbClr val="F8FAFC"/>
                </a:solidFill>
              </a:defRPr>
            </a:pPr>
            <a:r>
              <a:t>   Phù hợp hoàn hảo cho doanh nghiệp &amp; nhà máy sản xuất liên doanh.</a:t>
            </a:r>
            <a:br/>
            <a:r>
              <a:t>完美契合合资企业与生产工厂需求。</a:t>
            </a:r>
          </a:p>
          <a:p>
            <a:pPr>
              <a:defRPr sz="1400" b="1">
                <a:solidFill>
                  <a:srgbClr val="EFF6FF"/>
                </a:solidFill>
              </a:defRPr>
            </a:pPr>
            <a:r>
              <a:t>🚀 Khả năng mở rộng / 扩展能力</a:t>
            </a:r>
          </a:p>
          <a:p>
            <a:pPr>
              <a:spcAft>
                <a:spcPts val="1000"/>
              </a:spcAft>
              <a:defRPr sz="1100">
                <a:solidFill>
                  <a:srgbClr val="F8FAFC"/>
                </a:solidFill>
              </a:defRPr>
            </a:pPr>
            <a:r>
              <a:t>   Tích hợp AI gợi ý mua hàng &amp; kết nối hệ thống ERP (SAP).</a:t>
            </a:r>
            <a:br/>
            <a:r>
              <a:t>集成 AI 采购建议并对接 SAP ERP 系统。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6698</Words>
  <Application>WPS Presentation</Application>
  <PresentationFormat>On-screen Show (4:3)</PresentationFormat>
  <Paragraphs>183</Paragraphs>
  <Slides>11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Arial</vt:lpstr>
      <vt:lpstr>SimSun</vt:lpstr>
      <vt:lpstr>Wingdings</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lân đặng</cp:lastModifiedBy>
  <cp:revision>3</cp:revision>
  <dcterms:created xsi:type="dcterms:W3CDTF">2013-01-27T09:14:00Z</dcterms:created>
  <dcterms:modified xsi:type="dcterms:W3CDTF">2026-07-27T07:49:23Z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52A1C478334C49D082674AAB5AFB7ED0_12</vt:lpwstr>
  </property>
  <property fmtid="{D5CDD505-2E9C-101B-9397-08002B2CF9AE}" pid="3" name="KSOProductBuildVer">
    <vt:lpwstr>2057-12.2.0.23206</vt:lpwstr>
  </property>
</Properties>
</file>